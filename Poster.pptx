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32918400" cy="21945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76" autoAdjust="0"/>
    <p:restoredTop sz="94660"/>
  </p:normalViewPr>
  <p:slideViewPr>
    <p:cSldViewPr snapToGrid="0">
      <p:cViewPr>
        <p:scale>
          <a:sx n="33" d="100"/>
          <a:sy n="33" d="100"/>
        </p:scale>
        <p:origin x="171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68880" y="3591562"/>
            <a:ext cx="27980640" cy="7640320"/>
          </a:xfrm>
        </p:spPr>
        <p:txBody>
          <a:bodyPr anchor="b"/>
          <a:lstStyle>
            <a:lvl1pPr algn="ctr">
              <a:defRPr sz="19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114800" y="11526522"/>
            <a:ext cx="24688800" cy="5298438"/>
          </a:xfrm>
        </p:spPr>
        <p:txBody>
          <a:bodyPr/>
          <a:lstStyle>
            <a:lvl1pPr marL="0" indent="0" algn="ctr">
              <a:buNone/>
              <a:defRPr sz="7680"/>
            </a:lvl1pPr>
            <a:lvl2pPr marL="1463040" indent="0" algn="ctr">
              <a:buNone/>
              <a:defRPr sz="6400"/>
            </a:lvl2pPr>
            <a:lvl3pPr marL="2926080" indent="0" algn="ctr">
              <a:buNone/>
              <a:defRPr sz="5760"/>
            </a:lvl3pPr>
            <a:lvl4pPr marL="4389120" indent="0" algn="ctr">
              <a:buNone/>
              <a:defRPr sz="5120"/>
            </a:lvl4pPr>
            <a:lvl5pPr marL="5852160" indent="0" algn="ctr">
              <a:buNone/>
              <a:defRPr sz="5120"/>
            </a:lvl5pPr>
            <a:lvl6pPr marL="7315200" indent="0" algn="ctr">
              <a:buNone/>
              <a:defRPr sz="5120"/>
            </a:lvl6pPr>
            <a:lvl7pPr marL="8778240" indent="0" algn="ctr">
              <a:buNone/>
              <a:defRPr sz="5120"/>
            </a:lvl7pPr>
            <a:lvl8pPr marL="10241280" indent="0" algn="ctr">
              <a:buNone/>
              <a:defRPr sz="5120"/>
            </a:lvl8pPr>
            <a:lvl9pPr marL="11704320" indent="0" algn="ctr">
              <a:buNone/>
              <a:defRPr sz="51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69AFD-28CC-4A4C-8DB1-D93F74475F2F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E6E7E-B8AC-4B41-877D-293DE4CAFD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5353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69AFD-28CC-4A4C-8DB1-D93F74475F2F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E6E7E-B8AC-4B41-877D-293DE4CAFD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2606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45997" y="5471167"/>
            <a:ext cx="28392120" cy="9128758"/>
          </a:xfrm>
        </p:spPr>
        <p:txBody>
          <a:bodyPr anchor="b"/>
          <a:lstStyle>
            <a:lvl1pPr>
              <a:defRPr sz="19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45997" y="14686287"/>
            <a:ext cx="28392120" cy="4800598"/>
          </a:xfrm>
        </p:spPr>
        <p:txBody>
          <a:bodyPr/>
          <a:lstStyle>
            <a:lvl1pPr marL="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1pPr>
            <a:lvl2pPr marL="1463040" indent="0">
              <a:buNone/>
              <a:defRPr sz="6400">
                <a:solidFill>
                  <a:schemeClr val="tx1">
                    <a:tint val="82000"/>
                  </a:schemeClr>
                </a:solidFill>
              </a:defRPr>
            </a:lvl2pPr>
            <a:lvl3pPr marL="2926080" indent="0">
              <a:buNone/>
              <a:defRPr sz="5760">
                <a:solidFill>
                  <a:schemeClr val="tx1">
                    <a:tint val="82000"/>
                  </a:schemeClr>
                </a:solidFill>
              </a:defRPr>
            </a:lvl3pPr>
            <a:lvl4pPr marL="4389120" indent="0">
              <a:buNone/>
              <a:defRPr sz="5120">
                <a:solidFill>
                  <a:schemeClr val="tx1">
                    <a:tint val="82000"/>
                  </a:schemeClr>
                </a:solidFill>
              </a:defRPr>
            </a:lvl4pPr>
            <a:lvl5pPr marL="5852160" indent="0">
              <a:buNone/>
              <a:defRPr sz="5120">
                <a:solidFill>
                  <a:schemeClr val="tx1">
                    <a:tint val="82000"/>
                  </a:schemeClr>
                </a:solidFill>
              </a:defRPr>
            </a:lvl5pPr>
            <a:lvl6pPr marL="7315200" indent="0">
              <a:buNone/>
              <a:defRPr sz="5120">
                <a:solidFill>
                  <a:schemeClr val="tx1">
                    <a:tint val="82000"/>
                  </a:schemeClr>
                </a:solidFill>
              </a:defRPr>
            </a:lvl6pPr>
            <a:lvl7pPr marL="8778240" indent="0">
              <a:buNone/>
              <a:defRPr sz="5120">
                <a:solidFill>
                  <a:schemeClr val="tx1">
                    <a:tint val="82000"/>
                  </a:schemeClr>
                </a:solidFill>
              </a:defRPr>
            </a:lvl7pPr>
            <a:lvl8pPr marL="10241280" indent="0">
              <a:buNone/>
              <a:defRPr sz="5120">
                <a:solidFill>
                  <a:schemeClr val="tx1">
                    <a:tint val="82000"/>
                  </a:schemeClr>
                </a:solidFill>
              </a:defRPr>
            </a:lvl8pPr>
            <a:lvl9pPr marL="11704320" indent="0">
              <a:buNone/>
              <a:defRPr sz="512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69AFD-28CC-4A4C-8DB1-D93F74475F2F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E6E7E-B8AC-4B41-877D-293DE4CAFD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3976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63140" y="5842000"/>
            <a:ext cx="13990320" cy="139242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664940" y="5842000"/>
            <a:ext cx="13990320" cy="139242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69AFD-28CC-4A4C-8DB1-D93F74475F2F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E6E7E-B8AC-4B41-877D-293DE4CAFD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664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1168405"/>
            <a:ext cx="28392120" cy="42418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7431" y="5379722"/>
            <a:ext cx="13926024" cy="2636518"/>
          </a:xfrm>
        </p:spPr>
        <p:txBody>
          <a:bodyPr anchor="b"/>
          <a:lstStyle>
            <a:lvl1pPr marL="0" indent="0">
              <a:buNone/>
              <a:defRPr sz="7680" b="1"/>
            </a:lvl1pPr>
            <a:lvl2pPr marL="1463040" indent="0">
              <a:buNone/>
              <a:defRPr sz="6400" b="1"/>
            </a:lvl2pPr>
            <a:lvl3pPr marL="2926080" indent="0">
              <a:buNone/>
              <a:defRPr sz="5760" b="1"/>
            </a:lvl3pPr>
            <a:lvl4pPr marL="4389120" indent="0">
              <a:buNone/>
              <a:defRPr sz="5120" b="1"/>
            </a:lvl4pPr>
            <a:lvl5pPr marL="5852160" indent="0">
              <a:buNone/>
              <a:defRPr sz="5120" b="1"/>
            </a:lvl5pPr>
            <a:lvl6pPr marL="7315200" indent="0">
              <a:buNone/>
              <a:defRPr sz="5120" b="1"/>
            </a:lvl6pPr>
            <a:lvl7pPr marL="8778240" indent="0">
              <a:buNone/>
              <a:defRPr sz="5120" b="1"/>
            </a:lvl7pPr>
            <a:lvl8pPr marL="10241280" indent="0">
              <a:buNone/>
              <a:defRPr sz="5120" b="1"/>
            </a:lvl8pPr>
            <a:lvl9pPr marL="11704320" indent="0">
              <a:buNone/>
              <a:defRPr sz="51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67431" y="8016240"/>
            <a:ext cx="13926024" cy="117906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664942" y="5379722"/>
            <a:ext cx="13994608" cy="2636518"/>
          </a:xfrm>
        </p:spPr>
        <p:txBody>
          <a:bodyPr anchor="b"/>
          <a:lstStyle>
            <a:lvl1pPr marL="0" indent="0">
              <a:buNone/>
              <a:defRPr sz="7680" b="1"/>
            </a:lvl1pPr>
            <a:lvl2pPr marL="1463040" indent="0">
              <a:buNone/>
              <a:defRPr sz="6400" b="1"/>
            </a:lvl2pPr>
            <a:lvl3pPr marL="2926080" indent="0">
              <a:buNone/>
              <a:defRPr sz="5760" b="1"/>
            </a:lvl3pPr>
            <a:lvl4pPr marL="4389120" indent="0">
              <a:buNone/>
              <a:defRPr sz="5120" b="1"/>
            </a:lvl4pPr>
            <a:lvl5pPr marL="5852160" indent="0">
              <a:buNone/>
              <a:defRPr sz="5120" b="1"/>
            </a:lvl5pPr>
            <a:lvl6pPr marL="7315200" indent="0">
              <a:buNone/>
              <a:defRPr sz="5120" b="1"/>
            </a:lvl6pPr>
            <a:lvl7pPr marL="8778240" indent="0">
              <a:buNone/>
              <a:defRPr sz="5120" b="1"/>
            </a:lvl7pPr>
            <a:lvl8pPr marL="10241280" indent="0">
              <a:buNone/>
              <a:defRPr sz="5120" b="1"/>
            </a:lvl8pPr>
            <a:lvl9pPr marL="11704320" indent="0">
              <a:buNone/>
              <a:defRPr sz="51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664942" y="8016240"/>
            <a:ext cx="13994608" cy="117906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69AFD-28CC-4A4C-8DB1-D93F74475F2F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E6E7E-B8AC-4B41-877D-293DE4CAFD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982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69AFD-28CC-4A4C-8DB1-D93F74475F2F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E6E7E-B8AC-4B41-877D-293DE4CAFD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2378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69AFD-28CC-4A4C-8DB1-D93F74475F2F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E6E7E-B8AC-4B41-877D-293DE4CAFD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875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1463040"/>
            <a:ext cx="10617041" cy="5120640"/>
          </a:xfrm>
        </p:spPr>
        <p:txBody>
          <a:bodyPr anchor="b"/>
          <a:lstStyle>
            <a:lvl1pPr>
              <a:defRPr sz="102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94608" y="3159765"/>
            <a:ext cx="16664940" cy="15595600"/>
          </a:xfrm>
        </p:spPr>
        <p:txBody>
          <a:bodyPr/>
          <a:lstStyle>
            <a:lvl1pPr>
              <a:defRPr sz="10240"/>
            </a:lvl1pPr>
            <a:lvl2pPr>
              <a:defRPr sz="8960"/>
            </a:lvl2pPr>
            <a:lvl3pPr>
              <a:defRPr sz="7680"/>
            </a:lvl3pPr>
            <a:lvl4pPr>
              <a:defRPr sz="6400"/>
            </a:lvl4pPr>
            <a:lvl5pPr>
              <a:defRPr sz="6400"/>
            </a:lvl5pPr>
            <a:lvl6pPr>
              <a:defRPr sz="6400"/>
            </a:lvl6pPr>
            <a:lvl7pPr>
              <a:defRPr sz="6400"/>
            </a:lvl7pPr>
            <a:lvl8pPr>
              <a:defRPr sz="6400"/>
            </a:lvl8pPr>
            <a:lvl9pPr>
              <a:defRPr sz="6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67428" y="6583680"/>
            <a:ext cx="10617041" cy="12197082"/>
          </a:xfrm>
        </p:spPr>
        <p:txBody>
          <a:bodyPr/>
          <a:lstStyle>
            <a:lvl1pPr marL="0" indent="0">
              <a:buNone/>
              <a:defRPr sz="5120"/>
            </a:lvl1pPr>
            <a:lvl2pPr marL="1463040" indent="0">
              <a:buNone/>
              <a:defRPr sz="4480"/>
            </a:lvl2pPr>
            <a:lvl3pPr marL="2926080" indent="0">
              <a:buNone/>
              <a:defRPr sz="3840"/>
            </a:lvl3pPr>
            <a:lvl4pPr marL="4389120" indent="0">
              <a:buNone/>
              <a:defRPr sz="3200"/>
            </a:lvl4pPr>
            <a:lvl5pPr marL="5852160" indent="0">
              <a:buNone/>
              <a:defRPr sz="3200"/>
            </a:lvl5pPr>
            <a:lvl6pPr marL="7315200" indent="0">
              <a:buNone/>
              <a:defRPr sz="3200"/>
            </a:lvl6pPr>
            <a:lvl7pPr marL="8778240" indent="0">
              <a:buNone/>
              <a:defRPr sz="3200"/>
            </a:lvl7pPr>
            <a:lvl8pPr marL="10241280" indent="0">
              <a:buNone/>
              <a:defRPr sz="3200"/>
            </a:lvl8pPr>
            <a:lvl9pPr marL="11704320" indent="0">
              <a:buNone/>
              <a:defRPr sz="3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69AFD-28CC-4A4C-8DB1-D93F74475F2F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E6E7E-B8AC-4B41-877D-293DE4CAFD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3064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1463040"/>
            <a:ext cx="10617041" cy="5120640"/>
          </a:xfrm>
        </p:spPr>
        <p:txBody>
          <a:bodyPr anchor="b"/>
          <a:lstStyle>
            <a:lvl1pPr>
              <a:defRPr sz="102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994608" y="3159765"/>
            <a:ext cx="16664940" cy="15595600"/>
          </a:xfrm>
        </p:spPr>
        <p:txBody>
          <a:bodyPr anchor="t"/>
          <a:lstStyle>
            <a:lvl1pPr marL="0" indent="0">
              <a:buNone/>
              <a:defRPr sz="10240"/>
            </a:lvl1pPr>
            <a:lvl2pPr marL="1463040" indent="0">
              <a:buNone/>
              <a:defRPr sz="8960"/>
            </a:lvl2pPr>
            <a:lvl3pPr marL="2926080" indent="0">
              <a:buNone/>
              <a:defRPr sz="7680"/>
            </a:lvl3pPr>
            <a:lvl4pPr marL="4389120" indent="0">
              <a:buNone/>
              <a:defRPr sz="6400"/>
            </a:lvl4pPr>
            <a:lvl5pPr marL="5852160" indent="0">
              <a:buNone/>
              <a:defRPr sz="6400"/>
            </a:lvl5pPr>
            <a:lvl6pPr marL="7315200" indent="0">
              <a:buNone/>
              <a:defRPr sz="6400"/>
            </a:lvl6pPr>
            <a:lvl7pPr marL="8778240" indent="0">
              <a:buNone/>
              <a:defRPr sz="6400"/>
            </a:lvl7pPr>
            <a:lvl8pPr marL="10241280" indent="0">
              <a:buNone/>
              <a:defRPr sz="6400"/>
            </a:lvl8pPr>
            <a:lvl9pPr marL="11704320" indent="0">
              <a:buNone/>
              <a:defRPr sz="6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67428" y="6583680"/>
            <a:ext cx="10617041" cy="12197082"/>
          </a:xfrm>
        </p:spPr>
        <p:txBody>
          <a:bodyPr/>
          <a:lstStyle>
            <a:lvl1pPr marL="0" indent="0">
              <a:buNone/>
              <a:defRPr sz="5120"/>
            </a:lvl1pPr>
            <a:lvl2pPr marL="1463040" indent="0">
              <a:buNone/>
              <a:defRPr sz="4480"/>
            </a:lvl2pPr>
            <a:lvl3pPr marL="2926080" indent="0">
              <a:buNone/>
              <a:defRPr sz="3840"/>
            </a:lvl3pPr>
            <a:lvl4pPr marL="4389120" indent="0">
              <a:buNone/>
              <a:defRPr sz="3200"/>
            </a:lvl4pPr>
            <a:lvl5pPr marL="5852160" indent="0">
              <a:buNone/>
              <a:defRPr sz="3200"/>
            </a:lvl5pPr>
            <a:lvl6pPr marL="7315200" indent="0">
              <a:buNone/>
              <a:defRPr sz="3200"/>
            </a:lvl6pPr>
            <a:lvl7pPr marL="8778240" indent="0">
              <a:buNone/>
              <a:defRPr sz="3200"/>
            </a:lvl7pPr>
            <a:lvl8pPr marL="10241280" indent="0">
              <a:buNone/>
              <a:defRPr sz="3200"/>
            </a:lvl8pPr>
            <a:lvl9pPr marL="11704320" indent="0">
              <a:buNone/>
              <a:defRPr sz="3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69AFD-28CC-4A4C-8DB1-D93F74475F2F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E6E7E-B8AC-4B41-877D-293DE4CAFD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516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69AFD-28CC-4A4C-8DB1-D93F74475F2F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E6E7E-B8AC-4B41-877D-293DE4CAFD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6227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557232" y="1168400"/>
            <a:ext cx="7098030" cy="1859788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63142" y="1168400"/>
            <a:ext cx="20882610" cy="1859788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69AFD-28CC-4A4C-8DB1-D93F74475F2F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E6E7E-B8AC-4B41-877D-293DE4CAFD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4488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63140" y="1168405"/>
            <a:ext cx="28392120" cy="42418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3140" y="5842000"/>
            <a:ext cx="28392120" cy="139242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63140" y="20340325"/>
            <a:ext cx="7406640" cy="1168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8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E69AFD-28CC-4A4C-8DB1-D93F74475F2F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04220" y="20340325"/>
            <a:ext cx="11109960" cy="1168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8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248620" y="20340325"/>
            <a:ext cx="7406640" cy="1168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8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DE6E7E-B8AC-4B41-877D-293DE4CAFD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1654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926080" rtl="0" eaLnBrk="1" latinLnBrk="0" hangingPunct="1">
        <a:lnSpc>
          <a:spcPct val="90000"/>
        </a:lnSpc>
        <a:spcBef>
          <a:spcPct val="0"/>
        </a:spcBef>
        <a:buNone/>
        <a:defRPr sz="140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31520" indent="-731520" algn="l" defTabSz="2926080" rtl="0" eaLnBrk="1" latinLnBrk="0" hangingPunct="1">
        <a:lnSpc>
          <a:spcPct val="90000"/>
        </a:lnSpc>
        <a:spcBef>
          <a:spcPts val="3200"/>
        </a:spcBef>
        <a:buFont typeface="Arial" panose="020B0604020202020204" pitchFamily="34" charset="0"/>
        <a:buChar char="•"/>
        <a:defRPr sz="896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6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7680" kern="1200">
          <a:solidFill>
            <a:schemeClr val="tx1"/>
          </a:solidFill>
          <a:latin typeface="+mn-lt"/>
          <a:ea typeface="+mn-ea"/>
          <a:cs typeface="+mn-cs"/>
        </a:defRPr>
      </a:lvl2pPr>
      <a:lvl3pPr marL="365760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6400" kern="1200">
          <a:solidFill>
            <a:schemeClr val="tx1"/>
          </a:solidFill>
          <a:latin typeface="+mn-lt"/>
          <a:ea typeface="+mn-ea"/>
          <a:cs typeface="+mn-cs"/>
        </a:defRPr>
      </a:lvl3pPr>
      <a:lvl4pPr marL="512064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4pPr>
      <a:lvl5pPr marL="658368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5pPr>
      <a:lvl6pPr marL="804672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6pPr>
      <a:lvl7pPr marL="950976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7pPr>
      <a:lvl8pPr marL="1097280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8pPr>
      <a:lvl9pPr marL="1243584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1pPr>
      <a:lvl2pPr marL="146304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2pPr>
      <a:lvl3pPr marL="292608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3pPr>
      <a:lvl4pPr marL="438912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4pPr>
      <a:lvl5pPr marL="585216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5pPr>
      <a:lvl6pPr marL="731520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6pPr>
      <a:lvl7pPr marL="877824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7pPr>
      <a:lvl8pPr marL="1024128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8pPr>
      <a:lvl9pPr marL="1170432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jp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jp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EB9D586-1741-1F93-66E8-18955475691E}"/>
              </a:ext>
            </a:extLst>
          </p:cNvPr>
          <p:cNvSpPr txBox="1"/>
          <p:nvPr/>
        </p:nvSpPr>
        <p:spPr>
          <a:xfrm>
            <a:off x="0" y="0"/>
            <a:ext cx="32918399" cy="2677656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latin typeface="Helvetica" panose="020B0604020202020204" pitchFamily="34" charset="0"/>
                <a:cs typeface="Helvetica" panose="020B0604020202020204" pitchFamily="34" charset="0"/>
              </a:rPr>
              <a:t>RIDERSHIP PREDICTION FOR EXPANDING METRO NETWORKS</a:t>
            </a:r>
          </a:p>
          <a:p>
            <a:pPr algn="ctr"/>
            <a:r>
              <a:rPr lang="en-US" sz="4800" dirty="0">
                <a:latin typeface="Helvetica" panose="020B0604020202020204" pitchFamily="34" charset="0"/>
                <a:cs typeface="Helvetica" panose="020B0604020202020204" pitchFamily="34" charset="0"/>
              </a:rPr>
              <a:t>Predicting the </a:t>
            </a:r>
            <a:r>
              <a:rPr lang="en-US" sz="4800" b="1" dirty="0">
                <a:latin typeface="Helvetica" panose="020B0604020202020204" pitchFamily="34" charset="0"/>
                <a:cs typeface="Helvetica" panose="020B0604020202020204" pitchFamily="34" charset="0"/>
              </a:rPr>
              <a:t>Monthly Ridership </a:t>
            </a:r>
            <a:r>
              <a:rPr lang="en-US" sz="4800" dirty="0">
                <a:latin typeface="Helvetica" panose="020B0604020202020204" pitchFamily="34" charset="0"/>
                <a:cs typeface="Helvetica" panose="020B0604020202020204" pitchFamily="34" charset="0"/>
              </a:rPr>
              <a:t>of a newly created/planned metro station in a city’s metro network using Graphs and Neural Networks.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89A4D6-276F-6BA3-B02F-3B9A6DC5D37A}"/>
              </a:ext>
            </a:extLst>
          </p:cNvPr>
          <p:cNvSpPr txBox="1"/>
          <p:nvPr/>
        </p:nvSpPr>
        <p:spPr>
          <a:xfrm>
            <a:off x="2619987" y="3778422"/>
            <a:ext cx="1110848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Helvetica" panose="020B0604020202020204" pitchFamily="34" charset="0"/>
                <a:cs typeface="Helvetica" panose="020B0604020202020204" pitchFamily="34" charset="0"/>
              </a:rPr>
              <a:t>Metro Network Used: </a:t>
            </a:r>
            <a:r>
              <a:rPr lang="en-US" sz="4000" dirty="0">
                <a:latin typeface="Helvetica" panose="020B0604020202020204" pitchFamily="34" charset="0"/>
                <a:cs typeface="Helvetica" panose="020B0604020202020204" pitchFamily="34" charset="0"/>
              </a:rPr>
              <a:t>Chicago’s L Network</a:t>
            </a:r>
          </a:p>
          <a:p>
            <a:pPr algn="ctr"/>
            <a:r>
              <a:rPr lang="en-US" sz="4000" b="1" dirty="0">
                <a:latin typeface="Helvetica" panose="020B0604020202020204" pitchFamily="34" charset="0"/>
                <a:cs typeface="Helvetica" panose="020B0604020202020204" pitchFamily="34" charset="0"/>
              </a:rPr>
              <a:t>Newly Expanded Stations: </a:t>
            </a:r>
            <a:r>
              <a:rPr lang="en-US" sz="4000" dirty="0">
                <a:solidFill>
                  <a:srgbClr val="00B05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Damen (Green line),</a:t>
            </a:r>
            <a:r>
              <a:rPr lang="en-US" sz="4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sz="4000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Berwyn (Red Line)</a:t>
            </a:r>
            <a:r>
              <a:rPr lang="en-US" sz="4000" dirty="0">
                <a:latin typeface="Helvetica" panose="020B0604020202020204" pitchFamily="34" charset="0"/>
                <a:cs typeface="Helvetica" panose="020B0604020202020204" pitchFamily="34" charset="0"/>
              </a:rPr>
              <a:t> &amp; </a:t>
            </a:r>
            <a:r>
              <a:rPr lang="en-US" sz="4000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Lawrence (Red Line)</a:t>
            </a:r>
            <a:endParaRPr lang="en-US" sz="4000" b="1" dirty="0">
              <a:solidFill>
                <a:srgbClr val="FF0000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13" name="Picture 12" descr="A blue circle with white text&#10;&#10;AI-generated content may be incorrect.">
            <a:extLst>
              <a:ext uri="{FF2B5EF4-FFF2-40B4-BE49-F238E27FC236}">
                <a16:creationId xmlns:a16="http://schemas.microsoft.com/office/drawing/2014/main" id="{1C78C083-198D-EE67-A421-86BDE15B9E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287" y="3715413"/>
            <a:ext cx="1942594" cy="194769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7F981FA-4B93-2AEB-C986-A066F563FF8D}"/>
              </a:ext>
            </a:extLst>
          </p:cNvPr>
          <p:cNvSpPr txBox="1"/>
          <p:nvPr/>
        </p:nvSpPr>
        <p:spPr>
          <a:xfrm>
            <a:off x="1260789" y="7866841"/>
            <a:ext cx="9350479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Helvetica" panose="020B0604020202020204" pitchFamily="34" charset="0"/>
                <a:cs typeface="Helvetica" panose="020B0604020202020204" pitchFamily="34" charset="0"/>
              </a:rPr>
              <a:t>Data Sources</a:t>
            </a:r>
          </a:p>
          <a:p>
            <a:pPr marL="742950" indent="-742950">
              <a:buAutoNum type="arabicPeriod"/>
            </a:pPr>
            <a:r>
              <a:rPr lang="en-US" sz="3600" dirty="0">
                <a:latin typeface="Helvetica" panose="020B0604020202020204" pitchFamily="34" charset="0"/>
                <a:cs typeface="Helvetica" panose="020B0604020202020204" pitchFamily="34" charset="0"/>
              </a:rPr>
              <a:t>Chicago Data Portal: Monthly Ridership, Shapefiles for L stations &amp; Bus stops.</a:t>
            </a:r>
          </a:p>
          <a:p>
            <a:pPr marL="742950" indent="-742950">
              <a:buAutoNum type="arabicPeriod"/>
            </a:pPr>
            <a:r>
              <a:rPr lang="en-US" sz="3600" dirty="0">
                <a:latin typeface="Helvetica" panose="020B0604020202020204" pitchFamily="34" charset="0"/>
                <a:cs typeface="Helvetica" panose="020B0604020202020204" pitchFamily="34" charset="0"/>
              </a:rPr>
              <a:t>ACS: Population &amp; Housing Data.</a:t>
            </a:r>
          </a:p>
          <a:p>
            <a:pPr marL="742950" indent="-742950">
              <a:buAutoNum type="arabicPeriod"/>
            </a:pPr>
            <a:r>
              <a:rPr lang="en-US" sz="3600" dirty="0">
                <a:latin typeface="Helvetica" panose="020B0604020202020204" pitchFamily="34" charset="0"/>
                <a:cs typeface="Helvetica" panose="020B0604020202020204" pitchFamily="34" charset="0"/>
              </a:rPr>
              <a:t>Census Bureau: Block Group Shapefiles.</a:t>
            </a:r>
          </a:p>
        </p:txBody>
      </p:sp>
      <p:pic>
        <p:nvPicPr>
          <p:cNvPr id="16" name="Picture 15" descr="A black and white logo&#10;&#10;AI-generated content may be incorrect.">
            <a:extLst>
              <a:ext uri="{FF2B5EF4-FFF2-40B4-BE49-F238E27FC236}">
                <a16:creationId xmlns:a16="http://schemas.microsoft.com/office/drawing/2014/main" id="{FC50171D-7F72-9057-11BC-95F5025AEF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767" y="6514138"/>
            <a:ext cx="3126658" cy="1081889"/>
          </a:xfrm>
          <a:prstGeom prst="rect">
            <a:avLst/>
          </a:prstGeom>
        </p:spPr>
      </p:pic>
      <p:pic>
        <p:nvPicPr>
          <p:cNvPr id="18" name="Picture 17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FA46ED65-843B-83AB-6FC2-B00121188C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0438" y="6286383"/>
            <a:ext cx="3126658" cy="1537399"/>
          </a:xfrm>
          <a:prstGeom prst="rect">
            <a:avLst/>
          </a:prstGeom>
        </p:spPr>
      </p:pic>
      <p:pic>
        <p:nvPicPr>
          <p:cNvPr id="26" name="Picture 25" descr="A black train with red cars and a white background&#10;&#10;AI-generated content may be incorrect.">
            <a:extLst>
              <a:ext uri="{FF2B5EF4-FFF2-40B4-BE49-F238E27FC236}">
                <a16:creationId xmlns:a16="http://schemas.microsoft.com/office/drawing/2014/main" id="{F38C7E68-03DA-F587-A4B7-DED437940F1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5137" y="11983021"/>
            <a:ext cx="3949543" cy="2677656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8FCB9750-ECB9-4DA6-17BE-74558D9E97B8}"/>
              </a:ext>
            </a:extLst>
          </p:cNvPr>
          <p:cNvSpPr txBox="1"/>
          <p:nvPr/>
        </p:nvSpPr>
        <p:spPr>
          <a:xfrm>
            <a:off x="1437771" y="11470489"/>
            <a:ext cx="935047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latin typeface="Helvetica" panose="020B0604020202020204" pitchFamily="34" charset="0"/>
                <a:cs typeface="Helvetica" panose="020B0604020202020204" pitchFamily="34" charset="0"/>
              </a:rPr>
              <a:t>Feature Engineering</a:t>
            </a:r>
            <a:endParaRPr lang="en-US" sz="1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355B506-A483-01E4-6095-836B1274F5EC}"/>
              </a:ext>
            </a:extLst>
          </p:cNvPr>
          <p:cNvSpPr txBox="1"/>
          <p:nvPr/>
        </p:nvSpPr>
        <p:spPr>
          <a:xfrm>
            <a:off x="601735" y="14134813"/>
            <a:ext cx="4881291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Helvetica" panose="020B0604020202020204" pitchFamily="34" charset="0"/>
                <a:cs typeface="Helvetica" panose="020B0604020202020204" pitchFamily="34" charset="0"/>
              </a:rPr>
              <a:t>Multimodal Transport </a:t>
            </a:r>
          </a:p>
          <a:p>
            <a:pPr algn="ctr"/>
            <a:r>
              <a:rPr lang="en-US" sz="3200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Bus stops &amp; line counts</a:t>
            </a:r>
            <a:r>
              <a:rPr lang="en-US" sz="3200" dirty="0">
                <a:latin typeface="Helvetica" panose="020B0604020202020204" pitchFamily="34" charset="0"/>
                <a:cs typeface="Helvetica" panose="020B0604020202020204" pitchFamily="34" charset="0"/>
              </a:rPr>
              <a:t> in a radius 500m across each station</a:t>
            </a:r>
          </a:p>
        </p:txBody>
      </p:sp>
      <p:pic>
        <p:nvPicPr>
          <p:cNvPr id="32" name="Picture 3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49B386C3-4D77-4073-B22A-28529935B30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360" b="17718"/>
          <a:stretch>
            <a:fillRect/>
          </a:stretch>
        </p:blipFill>
        <p:spPr>
          <a:xfrm>
            <a:off x="7661592" y="12207521"/>
            <a:ext cx="3126658" cy="2123659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FF2144F4-B614-89BA-1344-9DE1AD5B6B80}"/>
              </a:ext>
            </a:extLst>
          </p:cNvPr>
          <p:cNvSpPr txBox="1"/>
          <p:nvPr/>
        </p:nvSpPr>
        <p:spPr>
          <a:xfrm>
            <a:off x="6784275" y="14134813"/>
            <a:ext cx="4881291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Helvetica" panose="020B0604020202020204" pitchFamily="34" charset="0"/>
                <a:cs typeface="Helvetica" panose="020B0604020202020204" pitchFamily="34" charset="0"/>
              </a:rPr>
              <a:t>Built Environment</a:t>
            </a:r>
          </a:p>
          <a:p>
            <a:pPr algn="ctr"/>
            <a:r>
              <a:rPr lang="en-US" sz="3200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Population Density and Housing Value</a:t>
            </a:r>
            <a:r>
              <a:rPr lang="en-US" sz="3200" dirty="0">
                <a:latin typeface="Helvetica" panose="020B0604020202020204" pitchFamily="34" charset="0"/>
                <a:cs typeface="Helvetica" panose="020B0604020202020204" pitchFamily="34" charset="0"/>
              </a:rPr>
              <a:t> in a radius 500m across each station</a:t>
            </a:r>
          </a:p>
        </p:txBody>
      </p:sp>
      <p:pic>
        <p:nvPicPr>
          <p:cNvPr id="36" name="Picture 35" descr="A map of a metro&#10;&#10;AI-generated content may be incorrect.">
            <a:extLst>
              <a:ext uri="{FF2B5EF4-FFF2-40B4-BE49-F238E27FC236}">
                <a16:creationId xmlns:a16="http://schemas.microsoft.com/office/drawing/2014/main" id="{C71B7BCC-EE98-8C9A-B97D-5DB108BBE54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37" t="17186" r="4985" b="12030"/>
          <a:stretch>
            <a:fillRect/>
          </a:stretch>
        </p:blipFill>
        <p:spPr>
          <a:xfrm>
            <a:off x="4264593" y="16406968"/>
            <a:ext cx="3782768" cy="2123658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E422B130-D351-AEA1-2872-8C398E85B774}"/>
              </a:ext>
            </a:extLst>
          </p:cNvPr>
          <p:cNvSpPr txBox="1"/>
          <p:nvPr/>
        </p:nvSpPr>
        <p:spPr>
          <a:xfrm>
            <a:off x="3295148" y="18214909"/>
            <a:ext cx="572165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Helvetica" panose="020B0604020202020204" pitchFamily="34" charset="0"/>
                <a:cs typeface="Helvetica" panose="020B0604020202020204" pitchFamily="34" charset="0"/>
              </a:rPr>
              <a:t>Time-Varied Network Features</a:t>
            </a:r>
          </a:p>
          <a:p>
            <a:pPr algn="ctr"/>
            <a:r>
              <a:rPr lang="en-US" sz="3200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Time-Based Centrality &amp; Degree based </a:t>
            </a:r>
            <a:r>
              <a:rPr lang="en-US" sz="3200" dirty="0">
                <a:latin typeface="Helvetica" panose="020B0604020202020204" pitchFamily="34" charset="0"/>
                <a:cs typeface="Helvetica" panose="020B0604020202020204" pitchFamily="34" charset="0"/>
              </a:rPr>
              <a:t>features</a:t>
            </a:r>
            <a:r>
              <a:rPr lang="en-US" sz="3200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sz="3200" dirty="0">
                <a:latin typeface="Helvetica" panose="020B0604020202020204" pitchFamily="34" charset="0"/>
                <a:cs typeface="Helvetica" panose="020B0604020202020204" pitchFamily="34" charset="0"/>
              </a:rPr>
              <a:t>for the ‘L Network’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BF4B407-69FD-A1CD-4022-6D931D0C5AD8}"/>
              </a:ext>
            </a:extLst>
          </p:cNvPr>
          <p:cNvSpPr txBox="1"/>
          <p:nvPr/>
        </p:nvSpPr>
        <p:spPr>
          <a:xfrm>
            <a:off x="19653701" y="3007527"/>
            <a:ext cx="935047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latin typeface="Helvetica" panose="020B0604020202020204" pitchFamily="34" charset="0"/>
                <a:cs typeface="Helvetica" panose="020B0604020202020204" pitchFamily="34" charset="0"/>
              </a:rPr>
              <a:t>Model Training</a:t>
            </a:r>
            <a:endParaRPr lang="en-US" sz="1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E2AAB1D-6242-F887-DFE0-9CB2EFB8A638}"/>
              </a:ext>
            </a:extLst>
          </p:cNvPr>
          <p:cNvSpPr txBox="1"/>
          <p:nvPr/>
        </p:nvSpPr>
        <p:spPr>
          <a:xfrm>
            <a:off x="15279343" y="3986290"/>
            <a:ext cx="843606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latin typeface="Helvetica" panose="020B0604020202020204" pitchFamily="34" charset="0"/>
                <a:cs typeface="Helvetica" panose="020B0604020202020204" pitchFamily="34" charset="0"/>
              </a:rPr>
              <a:t>MLP </a:t>
            </a:r>
            <a:r>
              <a:rPr lang="en-US" sz="3600" dirty="0">
                <a:latin typeface="Helvetica" panose="020B0604020202020204" pitchFamily="34" charset="0"/>
                <a:cs typeface="Helvetica" panose="020B0604020202020204" pitchFamily="34" charset="0"/>
              </a:rPr>
              <a:t>trained to predict monthly ridership for a station based on these features</a:t>
            </a:r>
            <a:endParaRPr lang="en-US" sz="36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12" name="Picture 11" descr="A diagram of a car&#10;&#10;AI-generated content may be incorrect.">
            <a:extLst>
              <a:ext uri="{FF2B5EF4-FFF2-40B4-BE49-F238E27FC236}">
                <a16:creationId xmlns:a16="http://schemas.microsoft.com/office/drawing/2014/main" id="{67DA8388-12CF-8CC0-C1B1-62E2E109415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56" t="5495" r="4392" b="8691"/>
          <a:stretch>
            <a:fillRect/>
          </a:stretch>
        </p:blipFill>
        <p:spPr>
          <a:xfrm>
            <a:off x="14146684" y="4893098"/>
            <a:ext cx="10287160" cy="4168957"/>
          </a:xfrm>
          <a:prstGeom prst="rect">
            <a:avLst/>
          </a:prstGeom>
        </p:spPr>
      </p:pic>
      <p:pic>
        <p:nvPicPr>
          <p:cNvPr id="17" name="Picture 16" descr="A graph of training and validation loss&#10;&#10;AI-generated content may be incorrect.">
            <a:extLst>
              <a:ext uri="{FF2B5EF4-FFF2-40B4-BE49-F238E27FC236}">
                <a16:creationId xmlns:a16="http://schemas.microsoft.com/office/drawing/2014/main" id="{31DF6F5E-330B-2861-0EB5-C1F8CD6CD59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51830" y="3715413"/>
            <a:ext cx="7393176" cy="5799818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E72CCA09-6789-717C-445D-C8D94E7AACE6}"/>
              </a:ext>
            </a:extLst>
          </p:cNvPr>
          <p:cNvSpPr txBox="1"/>
          <p:nvPr/>
        </p:nvSpPr>
        <p:spPr>
          <a:xfrm>
            <a:off x="19653701" y="9531854"/>
            <a:ext cx="935047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latin typeface="Helvetica" panose="020B0604020202020204" pitchFamily="34" charset="0"/>
                <a:cs typeface="Helvetica" panose="020B0604020202020204" pitchFamily="34" charset="0"/>
              </a:rPr>
              <a:t>Prediction Results</a:t>
            </a:r>
            <a:endParaRPr lang="en-US" sz="1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24" name="Picture 23" descr="A train on the tracks&#10;&#10;AI-generated content may be incorrect.">
            <a:extLst>
              <a:ext uri="{FF2B5EF4-FFF2-40B4-BE49-F238E27FC236}">
                <a16:creationId xmlns:a16="http://schemas.microsoft.com/office/drawing/2014/main" id="{8629C48C-6038-F94A-E8E6-8A76A1B9396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42478" y="11669925"/>
            <a:ext cx="4529328" cy="302056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67408882-3D2E-ED13-0E4B-1F13E181DAF7}"/>
              </a:ext>
            </a:extLst>
          </p:cNvPr>
          <p:cNvSpPr txBox="1"/>
          <p:nvPr/>
        </p:nvSpPr>
        <p:spPr>
          <a:xfrm>
            <a:off x="13507070" y="10269556"/>
            <a:ext cx="590425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00B05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Damen-Lake (Green Line)</a:t>
            </a:r>
          </a:p>
          <a:p>
            <a:r>
              <a:rPr lang="en-US" sz="3600" dirty="0">
                <a:latin typeface="Helvetica" panose="020B0604020202020204" pitchFamily="34" charset="0"/>
                <a:cs typeface="Helvetica" panose="020B0604020202020204" pitchFamily="34" charset="0"/>
              </a:rPr>
              <a:t>Opened: Aug 2024</a:t>
            </a:r>
          </a:p>
        </p:txBody>
      </p:sp>
      <p:pic>
        <p:nvPicPr>
          <p:cNvPr id="29" name="Picture 28" descr="A graph of blue and orange bars&#10;&#10;AI-generated content may be incorrect.">
            <a:extLst>
              <a:ext uri="{FF2B5EF4-FFF2-40B4-BE49-F238E27FC236}">
                <a16:creationId xmlns:a16="http://schemas.microsoft.com/office/drawing/2014/main" id="{F90F5AAB-B0E5-3A19-A9E8-53723880FDF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80797" y="10417485"/>
            <a:ext cx="11073406" cy="4672593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409432C8-D1ED-730D-2756-D4BD929F88EA}"/>
              </a:ext>
            </a:extLst>
          </p:cNvPr>
          <p:cNvSpPr txBox="1"/>
          <p:nvPr/>
        </p:nvSpPr>
        <p:spPr>
          <a:xfrm>
            <a:off x="13374334" y="15326481"/>
            <a:ext cx="590425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Berwyn (Red Line)</a:t>
            </a:r>
          </a:p>
          <a:p>
            <a:r>
              <a:rPr lang="en-US" sz="3600" dirty="0">
                <a:latin typeface="Helvetica" panose="020B0604020202020204" pitchFamily="34" charset="0"/>
                <a:cs typeface="Helvetica" panose="020B0604020202020204" pitchFamily="34" charset="0"/>
              </a:rPr>
              <a:t>Active till May 2021, Rebuilt and Reopened in Aug 2025</a:t>
            </a:r>
          </a:p>
        </p:txBody>
      </p:sp>
      <p:pic>
        <p:nvPicPr>
          <p:cNvPr id="35" name="Picture 34" descr="A graph of a number of people&#10;&#10;AI-generated content may be incorrect.">
            <a:extLst>
              <a:ext uri="{FF2B5EF4-FFF2-40B4-BE49-F238E27FC236}">
                <a16:creationId xmlns:a16="http://schemas.microsoft.com/office/drawing/2014/main" id="{0CDBFBA5-6B15-F9F6-7E97-3855B0096F0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7039" y="17017370"/>
            <a:ext cx="11073406" cy="4672593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A306E9B1-9B79-67C5-D76C-A5A5F9B85689}"/>
              </a:ext>
            </a:extLst>
          </p:cNvPr>
          <p:cNvSpPr txBox="1"/>
          <p:nvPr/>
        </p:nvSpPr>
        <p:spPr>
          <a:xfrm>
            <a:off x="24605564" y="15326481"/>
            <a:ext cx="590425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Lawrence (Red Line)</a:t>
            </a:r>
          </a:p>
          <a:p>
            <a:r>
              <a:rPr lang="en-US" sz="3600" dirty="0">
                <a:latin typeface="Helvetica" panose="020B0604020202020204" pitchFamily="34" charset="0"/>
                <a:cs typeface="Helvetica" panose="020B0604020202020204" pitchFamily="34" charset="0"/>
              </a:rPr>
              <a:t>Active till May 2021, Rebuilt and Reopened in Aug 2025</a:t>
            </a:r>
          </a:p>
        </p:txBody>
      </p:sp>
      <p:pic>
        <p:nvPicPr>
          <p:cNvPr id="41" name="Picture 40" descr="A graph with orange and blue bars&#10;&#10;AI-generated content may be incorrect.">
            <a:extLst>
              <a:ext uri="{FF2B5EF4-FFF2-40B4-BE49-F238E27FC236}">
                <a16:creationId xmlns:a16="http://schemas.microsoft.com/office/drawing/2014/main" id="{4BD898E4-F226-02CC-61FB-6F61583CCE4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32723" y="17080807"/>
            <a:ext cx="11073406" cy="4672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4635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129</TotalTime>
  <Words>190</Words>
  <Application>Microsoft Office PowerPoint</Application>
  <PresentationFormat>Custom</PresentationFormat>
  <Paragraphs>24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Helvetica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Aman Savaria</dc:creator>
  <cp:lastModifiedBy>Aman Savaria</cp:lastModifiedBy>
  <cp:revision>10</cp:revision>
  <dcterms:created xsi:type="dcterms:W3CDTF">2025-12-03T05:40:15Z</dcterms:created>
  <dcterms:modified xsi:type="dcterms:W3CDTF">2025-12-03T19:21:12Z</dcterms:modified>
</cp:coreProperties>
</file>